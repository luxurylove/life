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strictFirstAndLastChars="0" saveSubsetFonts="1" autoCompressPictures="0">
  <p:sldMasterIdLst>
    <p:sldMasterId xmlns:r="http://schemas.openxmlformats.org/officeDocument/2006/relationships" id="2147483648" r:id="rId4"/>
    <p:sldMasterId xmlns:r="http://schemas.openxmlformats.org/officeDocument/2006/relationships" id="2147483649" r:id="rId6"/>
  </p:sldMasterIdLst>
  <p:notesMasterIdLst>
    <p:notesMasterId xmlns:r="http://schemas.openxmlformats.org/officeDocument/2006/relationships" r:id="rId20"/>
  </p:notesMasterIdLst>
  <p:sldIdLst>
    <p:sldId xmlns:r="http://schemas.openxmlformats.org/officeDocument/2006/relationships" id="256" r:id="rId7"/>
    <p:sldId xmlns:r="http://schemas.openxmlformats.org/officeDocument/2006/relationships" id="257" r:id="rId8"/>
    <p:sldId xmlns:r="http://schemas.openxmlformats.org/officeDocument/2006/relationships" id="258" r:id="rId9"/>
    <p:sldId xmlns:r="http://schemas.openxmlformats.org/officeDocument/2006/relationships" id="259" r:id="rId10"/>
    <p:sldId xmlns:r="http://schemas.openxmlformats.org/officeDocument/2006/relationships" id="260" r:id="rId11"/>
    <p:sldId xmlns:r="http://schemas.openxmlformats.org/officeDocument/2006/relationships" id="261" r:id="rId12"/>
    <p:sldId xmlns:r="http://schemas.openxmlformats.org/officeDocument/2006/relationships" id="262" r:id="rId13"/>
    <p:sldId xmlns:r="http://schemas.openxmlformats.org/officeDocument/2006/relationships" id="263" r:id="rId14"/>
    <p:sldId xmlns:r="http://schemas.openxmlformats.org/officeDocument/2006/relationships" id="264" r:id="rId15"/>
    <p:sldId xmlns:r="http://schemas.openxmlformats.org/officeDocument/2006/relationships" id="265" r:id="rId16"/>
    <p:sldId xmlns:r="http://schemas.openxmlformats.org/officeDocument/2006/relationships" id="266" r:id="rId17"/>
    <p:sldId xmlns:r="http://schemas.openxmlformats.org/officeDocument/2006/relationships" id="267" r:id="rId18"/>
    <p:sldId xmlns:r="http://schemas.openxmlformats.org/officeDocument/2006/relationships" id="268" r:id="rId19"/>
  </p:sldIdLst>
  <p:sldSz cx="12192000" cy="6858000"/>
  <p:notesSz cx="6858000" cy="9144000"/>
  <p:extLst>
    <p:ext uri="{EFAFB233-063F-42B5-8137-9DF3F51BA10A}">
      <p15:sldGuideLst xmlns:p15="http://schemas.microsoft.com/office/powerpoint/2012/main">
        <p15:guide id="1" orient="horz" pos="1620">
          <p15:clr>
            <a:srgbClr xmlns:a="http://schemas.openxmlformats.org/drawingml/2006/main" val="747775"/>
          </p15:clr>
        </p15:guide>
        <p15:guide id="2" pos="2880">
          <p15:clr>
            <a:srgbClr xmlns:a="http://schemas.openxmlformats.org/drawingml/2006/main" val="747775"/>
          </p15:clr>
        </p15:guide>
      </p15:sldGuideLst>
    </p:ext>
  </p:ex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viewProps" Target="viewProps.xml"/><Relationship Id="rId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" Type="http://schemas.openxmlformats.org/officeDocument/2006/relationships/theme" Target="theme/theme3.xml"/><Relationship Id="rId6" Type="http://schemas.openxmlformats.org/officeDocument/2006/relationships/slideMaster" Target="slideMasters/slideMaster2.xml"/><Relationship Id="rId20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>
  <p:cSld name="Notes Master 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  <a:p xmlns:a="http://schemas.openxmlformats.org/drawingml/2006/main">
            <a:pPr lvl="1"/>
            <a:r>
              <a:rPr lang="en-US">
                <a:solidFill>
                  <a:schemeClr val="tx1"/>
                </a:solidFill>
              </a:rPr>
              <a:t>Second level</a:t>
            </a:r>
          </a:p>
          <a:p xmlns:a="http://schemas.openxmlformats.org/drawingml/2006/main">
            <a:pPr lvl="2"/>
            <a:r>
              <a:rPr lang="en-US">
                <a:solidFill>
                  <a:schemeClr val="tx1"/>
                </a:solidFill>
              </a:rPr>
              <a:t>Third level</a:t>
            </a:r>
          </a:p>
          <a:p xmlns:a="http://schemas.openxmlformats.org/drawingml/2006/main">
            <a:pPr lvl="3"/>
            <a:r>
              <a:rPr lang="en-US">
                <a:solidFill>
                  <a:schemeClr val="tx1"/>
                </a:solidFill>
              </a:rPr>
              <a:t>Fourth level</a:t>
            </a:r>
          </a:p>
          <a:p xmlns:a="http://schemas.openxmlformats.org/drawingml/2006/main">
            <a:pPr lvl="4"/>
            <a:r>
              <a:rPr lang="en-US">
                <a:solidFill>
                  <a:schemeClr val="tx1"/>
                </a:solidFill>
              </a:rPr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 name="Notes Slide 1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这是封面页。本次分享复盘我们如何把王晋康 1995 年的科幻短篇《生命之歌》改编成一支 165 秒、33 个镜头的 AI 短片。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前半部分先讲原著故事与人物，后半部分拆解从剧本到成片的完整制作流程。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 name="Notes Slide 2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这是原著的四幕结构：温情与谎言、锁与钥匙、觉醒与爆发、抉择与留白。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我们的 33 个分镜就是按这四幕切分时间线，前 1/4 暖、中段转冷、后段推到高潮后归于安静。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 name="Notes Slide 3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原著只围绕四个人物：被造的孩子元元、造他又锁他的父亲孔昭仁、举枪的姐姐孔宪云，以及破译密码后身亡的朴重哲。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人物少，情感才压得住，所有冲突最后都落在姐姐那把枪上。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 name="Notes Slide 4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这是三位主角的三视图：少年元元、父亲孔昭仁、姐姐孔宪云。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三视图是用豆包生成的，后续每个镜头都以它为参考图，保证人物长相一致。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 name="Notes Slide 5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四个关键场景：暖黄客厅、旧钢琴、冷蓝实验室、蓝光夜城。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暖黄对应温情回忆，冷蓝对应实验事故与机器觉醒，后期调色时这套色温逻辑贯穿全片。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 name="Notes Slide 6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这是制作流程总览：DeepSeek 负责文本，豆包负责图像，agens 和豆包负责视频，剪映负责后期。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下面几页会逐步拆解每一步怎么做。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 name="Notes Slide 7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第一步用 DeepSeek 做文本脑暴：把改编要求结构化，一次拿到大纲、人设和分镜三件套。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关键是在 prompt 里写清镜头数量、单镜时长和"输出英文提示词"这三个约束，后面生图生视频才能直接套用。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 name="Notes Slide 8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这一页展示视频生成环节：七段式英文提示词模板，30 个镜头共用同一结构。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右图是最终的 30 镜分镜板，从暖黄客厅、后颈开关、实验室爆炸到夜城对峙，所有镜头都按这套提示词生成。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 name="Notes Slide 9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这是剪映里实际的时间线截图：33 个 5 秒镜头按顺序排在视频轨上，每段都标了 00:00:05。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预览窗里正好停在元元独坐暗室那一镜，下方能看到旁白和 BGM 的音轨波形。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 name="Notes Slide 10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这张截图停在结尾段：预览窗里是"生命之歌"书法字幕卡，时间线上能看到 BGM 轨道命名为"沉郁静曲"。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四个后期动作——旁白、BGM、字幕、调色——都在剪映里这一条时间线上完成。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 name="Notes Slide 11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这是成片 165 秒的情绪曲线，按五段排布：暖黄温情、冷意抽离、赤红爆炸、冷蓝觉醒、蓝光温柔收束。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结尾没有战斗，元元只是轻轻覆上姐姐的手，蓝光散去——把追问留给观众。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 name="Notes Slide 12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这张表总结整条工具链：DeepSeek 写、豆包画、agens 和豆包让画面动起来、剪映最后合成。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流程可复用：任何短篇科幻小说都可以套这条链路。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 name="Notes Slide 13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 sz="quarter"/>
          </p:nvPr>
        </p:nvSpPr>
        <p:spPr>
          <a:xfrm xmlns:a="http://schemas.openxmlformats.org/drawingml/2006/main">
            <a:off x="0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 sz="quarter" idx="1"/>
          </p:nvPr>
        </p:nvSpPr>
        <p:spPr>
          <a:xfrm xmlns:a="http://schemas.openxmlformats.org/drawingml/2006/main">
            <a:off x="5180013" y="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4" name="Slide Image Placeholder 3"/>
          <p:cNvSpPr>
            <a:spLocks xmlns:a="http://schemas.openxmlformats.org/drawingml/2006/main" noGrp="1"/>
          </p:cNvSpPr>
          <p:nvPr>
            <p:ph type="sldImg" sz="quarter" idx="2"/>
          </p:nvPr>
        </p:nvSpPr>
        <p:spPr>
          <a:xfrm xmlns:a="http://schemas.openxmlformats.org/drawingml/2006/main">
            <a:off x="2857500" y="512763"/>
            <a:ext cx="3429000" cy="25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lIns="91440" tIns="45720" rIns="91440" bIns="45720" rtlCol="0" anchor="ctr"/>
          <a:lstStyle xmlns:a="http://schemas.openxmlformats.org/drawingml/2006/main"/>
          <a:p xmlns:a="http://schemas.openxmlformats.org/drawingml/2006/main">
            <a:endParaRPr lang="cs-CZ"/>
          </a:p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914400" y="3251200"/>
            <a:ext cx="7315200" cy="308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/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结尾用原著最扎心的追问收束：如果元元是你的孩子，你会扣下扳机吗？</a:t>
            </a:r>
          </a:p>
          <a:p xmlns:a="http://schemas.openxmlformats.org/drawingml/2006/main">
            <a:pPr marL="0" algn="l" defTabSz="914400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这支短片用 DeepSeek 写剧本、豆包生图、agens 和豆包生视频、剪映合成，把 1995 年的科幻短篇重新讲了一遍。谢谢观看。</a:t>
            </a:r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sz="quarter" idx="4"/>
          </p:nvPr>
        </p:nvSpPr>
        <p:spPr>
          <a:xfrm xmlns:a="http://schemas.openxmlformats.org/drawingml/2006/main">
            <a:off x="0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l">
              <a:defRPr sz="1200"/>
            </a:lvl1pPr>
          </a:lstStyle>
          <a:p xmlns:a="http://schemas.openxmlformats.org/drawingml/2006/main">
            <a:endParaRPr lang="cs-CZ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 sz="quarter" idx="5" hasCustomPrompt="1"/>
          </p:nvPr>
        </p:nvSpPr>
        <p:spPr>
          <a:xfrm xmlns:a="http://schemas.openxmlformats.org/drawingml/2006/main">
            <a:off x="5180013" y="6502400"/>
            <a:ext cx="3962400" cy="341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rtlCol="0" anchor="b"/>
          <a:lstStyle xmlns:a="http://schemas.openxmlformats.org/drawingml/2006/main">
            <a:lvl1pPr algn="r">
              <a:defRPr sz="1200"/>
            </a:lvl1pPr>
          </a:lstStyle>
          <a:p xmlns:a="http://schemas.openxmlformats.org/drawingml/2006/main">
            <a:r>
              <a:rPr lang="cs-CZ"/>
              <a:t>&lt;#&gt;</a:t>
            </a:r>
            <a:endParaRPr lang="cs-CZ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matchingName="TITLE" preserve="1">
  <p:cSld name="TITL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4500"/>
            </a:lvl1pPr>
          </a:lstStyle>
          <a:p xmlns:a="http://schemas.openxmlformats.org/drawingml/2006/main">
            <a:pPr marR="0" algn="ctr">
              <a:lnSpc>
                <a:spcPct val="90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subTitle" sz="quarter" idx="1" hasCustomPrompt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1800"/>
            </a:lvl1pPr>
          </a:lstStyle>
          <a:p xmlns:a="http://schemas.openxmlformats.org/drawingml/2006/main">
            <a:pPr marL="457200" marR="0" indent="-361950" algn="ctr">
              <a:lnSpc>
                <a:spcPct val="90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单击此处添加副标题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FCC6F11A-C1EB-470E-B964-6441A3854A77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matchingName="OBJECT" preserve="1">
  <p:cSld name="OBJEC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B3478D91-9399-4F03-ACD6-6B6A8D2F3374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matchingName="SECTION_HEADER" preserve="1">
  <p:cSld name="SECTION_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4500"/>
            </a:lvl1pPr>
          </a:lstStyle>
          <a:p xmlns:a="http://schemas.openxmlformats.org/drawingml/2006/main">
            <a:pPr marR="0" algn="l">
              <a:lnSpc>
                <a:spcPct val="90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1800"/>
            </a:lvl1pPr>
          </a:lstStyle>
          <a:p xmlns:a="http://schemas.openxmlformats.org/drawingml/2006/main"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5678FEF1-F0F4-4445-9B90-F9024E854CC4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matchingName="TWO_OBJECTS" preserve="1">
  <p:cSld name="TWO_OBJECTS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2" hasCustomPrompt="1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4F5B0F10-189F-4BC4-8834-52519AD1E972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matchingName="TWO_OBJECTS_WITH_TEXT" preserve="1">
  <p:cSld name="TWO_OBJECTS_WITH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1800"/>
            </a:lvl1pPr>
          </a:lstStyle>
          <a:p xmlns:a="http://schemas.openxmlformats.org/drawingml/2006/main"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2" hasCustomPrompt="1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3" hasCustomPrompt="1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1800"/>
            </a:lvl1pPr>
          </a:lstStyle>
          <a:p xmlns:a="http://schemas.openxmlformats.org/drawingml/2006/main"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4" hasCustomPrompt="1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1A400F9B-60CA-4BF6-8E48-3441E5D83016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matchingName="TITLE_ONLY" preserve="1">
  <p:cSld name="TITLE_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2C1E7C15-F4BA-4FCF-9DE4-73912235B780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1FB14428-74B8-4431-8E46-0FEEE424D45B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matchingName="OBJECT_WITH_CAPTION_TEXT" preserve="1">
  <p:cSld name="OBJECT_WITH_CAPTION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2400"/>
            </a:lvl1pPr>
          </a:lstStyle>
          <a:p xmlns:a="http://schemas.openxmlformats.org/drawingml/2006/main">
            <a:pPr marR="0" algn="l">
              <a:lnSpc>
                <a:spcPct val="90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2400"/>
            </a:lvl1pPr>
          </a:lstStyle>
          <a:p xmlns:a="http://schemas.openxmlformats.org/drawingml/2006/main">
            <a:pPr marL="457200" marR="0" indent="-381000" algn="l">
              <a:lnSpc>
                <a:spcPct val="90000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2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1200"/>
            </a:lvl1pPr>
          </a:lstStyle>
          <a:p xmlns:a="http://schemas.openxmlformats.org/drawingml/2006/main"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B1224ED-13A3-445B-A8E2-16E648A2E42F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matchingName="PICTURE_WITH_CAPTION_TEXT" preserve="1">
  <p:cSld name="PICTURE_WITH_CAPTION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b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2400"/>
            </a:lvl1pPr>
          </a:lstStyle>
          <a:p xmlns:a="http://schemas.openxmlformats.org/drawingml/2006/main">
            <a:pPr marR="0" algn="l">
              <a:lnSpc>
                <a:spcPct val="90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 Shape 2"/>
          <p:cNvSpPr>
            <a:spLocks xmlns:a="http://schemas.openxmlformats.org/drawingml/2006/main" noGrp="1"/>
          </p:cNvSpPr>
          <p:nvPr>
            <p:ph type="pic" sz="quarter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1200"/>
            </a:lvl1pPr>
          </a:lstStyle>
          <a:p xmlns:a="http://schemas.openxmlformats.org/drawingml/2006/main">
            <a:pPr marL="457200" marR="0" indent="-228600" algn="l">
              <a:lnSpc>
                <a:spcPct val="90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A6356BF2-D306-4507-BFC7-FD72DA35B582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matchingName="VERTICAL_TEXT" preserve="1">
  <p:cSld name="VERTICAL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0E23A260-9A7A-4479-AD55-6367CB756C91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matchingName="VERTICAL_TITLE_AND_VERTICAL_TEXT" preserve="1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9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90000"/>
              </a:lnSpc>
              <a:buNone/>
              <a:defRPr sz="2100"/>
            </a:lvl1pPr>
          </a:lstStyle>
          <a:p xmlns:a="http://schemas.openxmlformats.org/drawingml/2006/main">
            <a:pPr marL="457200" marR="0" indent="-317500" algn="l">
              <a:lnSpc>
                <a:spcPct val="90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7C92CE01-A5E5-4E8C-B0B5-1B401568759E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matchingName="" preserve="1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<?xml version="1.0" encoding="UTF-8" standalone="yes"?><Relationships xmlns="http://schemas.openxmlformats.org/package/2006/relationships"><Relationship Id="rId13" Type="http://schemas.openxmlformats.org/officeDocument/2006/relationships/slideLayout" Target="../slideLayouts/slideLayout1.xml"/><Relationship Id="rId14" Type="http://schemas.openxmlformats.org/officeDocument/2006/relationships/slideLayout" Target="../slideLayouts/slideLayout2.xml"/><Relationship Id="rId15" Type="http://schemas.openxmlformats.org/officeDocument/2006/relationships/slideLayout" Target="../slideLayouts/slideLayout3.xml"/><Relationship Id="rId16" Type="http://schemas.openxmlformats.org/officeDocument/2006/relationships/slideLayout" Target="../slideLayouts/slideLayout4.xml"/><Relationship Id="rId17" Type="http://schemas.openxmlformats.org/officeDocument/2006/relationships/slideLayout" Target="../slideLayouts/slideLayout5.xml"/><Relationship Id="rId18" Type="http://schemas.openxmlformats.org/officeDocument/2006/relationships/slideLayout" Target="../slideLayouts/slideLayout6.xml"/><Relationship Id="rId19" Type="http://schemas.openxmlformats.org/officeDocument/2006/relationships/slideLayout" Target="../slideLayouts/slideLayout7.xml"/><Relationship Id="rId20" Type="http://schemas.openxmlformats.org/officeDocument/2006/relationships/slideLayout" Target="../slideLayouts/slideLayout8.xml"/><Relationship Id="rId21" Type="http://schemas.openxmlformats.org/officeDocument/2006/relationships/slideLayout" Target="../slideLayouts/slideLayout9.xml"/><Relationship Id="rId22" Type="http://schemas.openxmlformats.org/officeDocument/2006/relationships/slideLayout" Target="../slideLayouts/slideLayout10.xml"/><Relationship Id="rId23" Type="http://schemas.openxmlformats.org/officeDocument/2006/relationships/slideLayout" Target="../slideLayouts/slideLayout11.xml"/><Relationship Id="rId1" Type="http://schemas.openxmlformats.org/officeDocument/2006/relationships/theme" Target="../theme/theme3.xml"/></Relationships>
</file>

<file path=ppt/slideMasters/_rels/slideMaster2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12.xml"/><Relationship Id="rId1" Type="http://schemas.openxmlformats.org/officeDocument/2006/relationships/theme" Target="../theme/theme4.xml"/></Relationships>
</file>

<file path=ppt/slideMasters/slideMaster1.xml><?xml version="1.0" encoding="utf-8"?>
<p:sldMaster xmlns:p="http://schemas.openxmlformats.org/presentationml/2006/main" preserve="1">
  <p:cSld name="Office 主题​​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>
            <p:ph type="title" sz="quarter" hasCustomPrompt="1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rmAutofit lnSpcReduction="0"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3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>
            <p:ph type="body" sz="quarter" idx="1" hasCustomPrompt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t">
            <a:normAutofit lnSpcReduction="0"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21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21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>
            <p:ph type="body" sz="quarter" idx="10" hasCustomPrompt="1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>
            <p:ph type="body" sz="quarter" idx="11" hasCustomPrompt="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>
            <p:ph type="body" sz="quarter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square" lIns="68575" tIns="34275" rIns="68575" bIns="34275" rtlCol="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/>
              </a:defRPr>
            </a:lvl1pPr>
          </a:lstStyle>
          <a:p xmlns:a="http://schemas.openxmlformats.org/drawingml/2006/main">
            <a:pPr marL="0" marR="0" algn="r">
              <a:lnSpc>
                <a:spcPct val="100000"/>
              </a:lnSpc>
            </a:pPr>
            <a:fld id="{1727BF1C-4028-4CB6-98D8-90105D8AA67D}" type="slidenum">
              <a:rPr lang="zh-CN" sz="900" b="0" i="0" u="none" strike="noStrike" spc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57483699" r:id="rId13"/>
    <p:sldLayoutId xmlns:r="http://schemas.openxmlformats.org/officeDocument/2006/relationships" id="2157483700" r:id="rId14"/>
    <p:sldLayoutId xmlns:r="http://schemas.openxmlformats.org/officeDocument/2006/relationships" id="2157483701" r:id="rId15"/>
    <p:sldLayoutId xmlns:r="http://schemas.openxmlformats.org/officeDocument/2006/relationships" id="2157483702" r:id="rId16"/>
    <p:sldLayoutId xmlns:r="http://schemas.openxmlformats.org/officeDocument/2006/relationships" id="2157483703" r:id="rId17"/>
    <p:sldLayoutId xmlns:r="http://schemas.openxmlformats.org/officeDocument/2006/relationships" id="2157483704" r:id="rId18"/>
    <p:sldLayoutId xmlns:r="http://schemas.openxmlformats.org/officeDocument/2006/relationships" id="2157483705" r:id="rId19"/>
    <p:sldLayoutId xmlns:r="http://schemas.openxmlformats.org/officeDocument/2006/relationships" id="2157483706" r:id="rId20"/>
    <p:sldLayoutId xmlns:r="http://schemas.openxmlformats.org/officeDocument/2006/relationships" id="2157483707" r:id="rId21"/>
    <p:sldLayoutId xmlns:r="http://schemas.openxmlformats.org/officeDocument/2006/relationships" id="2157483708" r:id="rId22"/>
    <p:sldLayoutId xmlns:r="http://schemas.openxmlformats.org/officeDocument/2006/relationships" id="2157483709" r:id="rId23"/>
  </p:sldLayoutIdLst>
</p:sldMaster>
</file>

<file path=ppt/slideMasters/slideMaster2.xml><?xml version="1.0" encoding="utf-8"?>
<p:sldMaster xmlns:p="http://schemas.openxmlformats.org/presentationml/2006/main" preserve="1">
  <p:cSld name="默认主题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57483710" r:id="rId3"/>
  </p:sldLayoutIdLst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4" Type="http://schemas.openxmlformats.org/officeDocument/2006/relationships/slideLayout" Target="../slideLayouts/slideLayout12.xml"/><Relationship Id="rId1" Type="http://schemas.openxmlformats.org/officeDocument/2006/relationships/image" Target="../media/image2.jpg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5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5" Type="http://schemas.openxmlformats.org/officeDocument/2006/relationships/slideLayout" Target="../slideLayouts/slideLayout12.xml"/><Relationship Id="rId1" Type="http://schemas.openxmlformats.org/officeDocument/2006/relationships/image" Target="../media/image5.jpg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1.jpg"/><Relationship Id="rId6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jpg"/><Relationship Id="rId3" Type="http://schemas.openxmlformats.org/officeDocument/2006/relationships/notesSlide" Target="../notesSlides/notesSlide13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12" r="0" b="1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A101A">
              <a:alpha val="74000"/>
            </a:srgbClr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生命之歌 · SONG OF LIFE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1995</a:t>
            </a:r>
          </a:p>
        </p:txBody>
      </p:sp>
      <p:cxnSp>
        <p:nvCxnSpPr>
          <p:cNvPr id="6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20" y="1408619"/>
            <a:ext cx="10871180" cy="2274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6600" b="1" i="0" u="none" strike="noStrike" spc="0">
                <a:solidFill>
                  <a:srgbClr val="5BB8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生命之歌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2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AI 科幻短片 · 制作全流程复盘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B4BCC8"/>
                </a:solidFill>
                <a:latin typeface="Noto Sans SC"/>
                <a:ea typeface="Noto Sans SC"/>
                <a:cs typeface="Noto Sans SC"/>
                <a:sym typeface="Noto Sans SC"/>
              </a:rPr>
              <a:t>原著：王晋康《生命之歌》· 1995 年发表于《科幻世界》</a:t>
            </a:r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2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0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165s　｜　33 镜　｜　单镜 5s　｜　16:9　｜　电影质感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STORY · FOUR-ACT STRUCTURE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0000"/>
            <a:ext cx="1066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故事大纲：四幕层层撕开温情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每一幕都把上一幕的温情，撕开一层更冷的底色</a:t>
            </a:r>
          </a:p>
        </p:txBody>
      </p:sp>
      <p:cxnSp>
        <p:nvCxnSpPr>
          <p:cNvPr id="7" name="Connector"/>
          <p:cNvCxnSpPr/>
          <p:nvPr/>
        </p:nvCxnSpPr>
        <p:spPr>
          <a:xfrm xmlns:a="http://schemas.openxmlformats.org/drawingml/2006/main" rot="-4523">
            <a:off x="1270004" y="4057650"/>
            <a:ext cx="9652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5BB8FF">
                <a:alpha val="45000"/>
              </a:srgbClr>
            </a:solidFill>
            <a:round/>
          </a:ln>
        </p:spPr>
      </p:cxn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624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26E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794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E8B26E"/>
                </a:solidFill>
                <a:latin typeface="Noto Sans SC"/>
                <a:ea typeface="Noto Sans SC"/>
                <a:cs typeface="Noto Sans SC"/>
                <a:sym typeface="Noto Sans SC"/>
              </a:rPr>
              <a:t>ACT 01</a:t>
            </a:r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1496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温情与谎言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3815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元元被当亲儿子养大，五岁后心智停滞，所有人都以为这是终点。</a:t>
            </a:r>
          </a:p>
        </p:txBody>
      </p:sp>
      <p:sp>
        <p:nvSpPr>
          <p:cNvPr id="12" name="Auto Shap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24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8F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794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ACT 02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1496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锁与钥匙</a:t>
            </a:r>
          </a:p>
        </p:txBody>
      </p:sp>
      <p:sp>
        <p:nvSpPr>
          <p:cNvPr id="15" name="Text Box 1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43815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朴重哲破译"生命之歌"旋律，触发自毁身亡，密码再收不回。</a:t>
            </a:r>
          </a:p>
        </p:txBody>
      </p:sp>
      <p:sp>
        <p:nvSpPr>
          <p:cNvPr id="16" name="Auto 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39624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8FF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7" name="Text Box 1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4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ACT 03</a:t>
            </a:r>
          </a:p>
        </p:txBody>
      </p:sp>
      <p:sp>
        <p:nvSpPr>
          <p:cNvPr id="18" name="Text Box 1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96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觉醒与爆发</a:t>
            </a:r>
          </a:p>
        </p:txBody>
      </p:sp>
      <p:sp>
        <p:nvSpPr>
          <p:cNvPr id="19" name="Text Box 1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旋律化为数据流涌入网络，全球机器几秒走完人类三百万年进化。</a:t>
            </a:r>
          </a:p>
        </p:txBody>
      </p:sp>
      <p:sp>
        <p:nvSpPr>
          <p:cNvPr id="20" name="Auto Shape 1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624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05B"/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1" name="Text Box 2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794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1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ACT 04</a:t>
            </a:r>
          </a:p>
        </p:txBody>
      </p:sp>
      <p:sp>
        <p:nvSpPr>
          <p:cNvPr id="22" name="Text Box 2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1496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抉择与留白</a:t>
            </a:r>
          </a:p>
        </p:txBody>
      </p:sp>
      <p:sp>
        <p:nvSpPr>
          <p:cNvPr id="23" name="Text Box 2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3815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姐姐面对觉醒后的元元举枪，枪响与否未明，结局开放留白。</a:t>
            </a:r>
          </a:p>
        </p:txBody>
      </p:sp>
      <p:sp>
        <p:nvSpPr>
          <p:cNvPr id="24" name="Text Box 2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0" i="0" u="none" strike="noStrike" spc="0">
                <a:solidFill>
                  <a:srgbClr val="8A93A3"/>
                </a:solidFill>
                <a:latin typeface="Songti SC"/>
                <a:ea typeface="Songti SC"/>
                <a:cs typeface="Songti SC"/>
                <a:sym typeface="Songti SC"/>
              </a:rPr>
              <a:t>冲突压在最后一个问题上：谁有权决定一个想活下去的生命的命运？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STORY · CHARACTERS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0000"/>
            <a:ext cx="1066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7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四个人物，一个枪口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人物越少情感越集中——这也是《生命之歌》天然适合影像化的原因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4000"/>
            <a:ext cx="2540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7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元元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被造出的孩子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3000"/>
            <a:ext cx="25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4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外表五岁，体内跑着 DNA 编码的生存本能，被锁住后逐渐觉醒。</a:t>
            </a:r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794000"/>
            <a:ext cx="2540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7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孔昭仁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2766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元元的"父亲"</a:t>
            </a:r>
          </a:p>
        </p:txBody>
      </p:sp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683000"/>
            <a:ext cx="25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4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生物学家，用四十五年造出元元，又亲手锁住他的觉醒程序。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794000"/>
            <a:ext cx="2540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7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孔宪云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2766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姐姐与抉择者</a:t>
            </a:r>
          </a:p>
        </p:txBody>
      </p:sp>
      <p:sp>
        <p:nvSpPr>
          <p:cNvPr id="15" name="Text Box 1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505200"/>
            <a:ext cx="2540000" cy="170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4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夹在亲情与人类立场之间，最终举起枪却扣不下去。</a:t>
            </a:r>
          </a:p>
        </p:txBody>
      </p:sp>
      <p:sp>
        <p:nvSpPr>
          <p:cNvPr id="16" name="Text Box 1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94000"/>
            <a:ext cx="2540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7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朴重哲</a:t>
            </a:r>
          </a:p>
        </p:txBody>
      </p:sp>
      <p:sp>
        <p:nvSpPr>
          <p:cNvPr id="17" name="Text Box 1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破译者</a:t>
            </a:r>
          </a:p>
        </p:txBody>
      </p:sp>
      <p:sp>
        <p:nvSpPr>
          <p:cNvPr id="18" name="Text Box 1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83000"/>
            <a:ext cx="25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4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孔宪云的丈夫，破译出"生命之歌"密码，意外触发自毁身亡。</a:t>
            </a:r>
          </a:p>
        </p:txBody>
      </p:sp>
      <p:cxnSp>
        <p:nvCxnSpPr>
          <p:cNvPr id="19" name="Connector"/>
          <p:cNvCxnSpPr/>
          <p:nvPr/>
        </p:nvCxnSpPr>
        <p:spPr>
          <a:xfrm xmlns:a="http://schemas.openxmlformats.org/drawingml/2006/main" rot="-4092">
            <a:off x="762004" y="57086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20" name="Text Box 1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0" i="0" u="none" strike="noStrike" spc="0">
                <a:solidFill>
                  <a:srgbClr val="8A93A3"/>
                </a:solidFill>
                <a:latin typeface="Songti SC"/>
                <a:ea typeface="Songti SC"/>
                <a:cs typeface="Songti SC"/>
                <a:sym typeface="Songti SC"/>
              </a:rPr>
              <a:t>四组对立层层递进：父爱 vs 恐惧、亲情 vs 责任、创造者 vs 造物、生存权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STORY · CHARACTER ART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0000"/>
            <a:ext cx="1066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4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人物形象：三视图锁定角色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正 / 侧 / 背三视图作为后续镜头的参考图，保证 33 个镜头里人物不换脸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12490" t="0" r="1249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2476500"/>
            <a:ext cx="3302000" cy="24765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2"/>
          <a:srcRect xmlns:a="http://schemas.openxmlformats.org/drawingml/2006/main" l="12490" t="0" r="1249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445000" y="2476500"/>
            <a:ext cx="3302000" cy="24765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3"/>
          <a:srcRect xmlns:a="http://schemas.openxmlformats.org/drawingml/2006/main" l="12490" t="0" r="1249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28000" y="2476500"/>
            <a:ext cx="3302000" cy="24765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3302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元元 · 少年仿生人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330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5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苍白瘦削，黑乱发，后颈蓝色 LED 开关</a:t>
            </a:r>
          </a:p>
        </p:txBody>
      </p:sp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080000"/>
            <a:ext cx="3302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7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父亲 · 孔昭仁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410200"/>
            <a:ext cx="330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5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45 岁，瘦削憔悴，短灰发，藏愧疚与温柔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080000"/>
            <a:ext cx="3302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姐姐 · 孔宪云</a:t>
            </a:r>
          </a:p>
        </p:txBody>
      </p:sp>
      <p:sp>
        <p:nvSpPr>
          <p:cNvPr id="15" name="Text Box 1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410200"/>
            <a:ext cx="330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5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25 岁，高马尾战术夹克，含泪却举不起枪</a:t>
            </a:r>
          </a:p>
        </p:txBody>
      </p:sp>
      <p:sp>
        <p:nvSpPr>
          <p:cNvPr id="16" name="Text Box 1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由豆包生成：角色身份 + 年龄外形 + 服装 + 关键特征（后颈蓝光开关）+ front / side / back 三视图 + 电影光 + film grain + 16:9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STORY · SCENE ART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0000"/>
            <a:ext cx="1066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4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场景背景：暖黄与冷蓝的对位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暖黄客厅对应父子温情，冷蓝实验室与夜城对应机器觉醒</a:t>
            </a:r>
          </a:p>
        </p:txBody>
      </p:sp>
      <p:pic>
        <p:nvPicPr>
          <p:cNvPr id="7" name="Picture 6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12490" t="0" r="1249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2476500"/>
            <a:ext cx="2540000" cy="19050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pic>
        <p:nvPicPr>
          <p:cNvPr id="8" name="Picture 7"/>
          <p:cNvPicPr/>
          <p:nvPr/>
        </p:nvPicPr>
        <p:blipFill>
          <a:blip xmlns:a="http://schemas.openxmlformats.org/drawingml/2006/main" xmlns:r="http://schemas.openxmlformats.org/officeDocument/2006/relationships" r:embed="rId2"/>
          <a:srcRect xmlns:a="http://schemas.openxmlformats.org/drawingml/2006/main" l="12490" t="0" r="1249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556000" y="2476500"/>
            <a:ext cx="2540000" cy="19050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pic>
        <p:nvPicPr>
          <p:cNvPr id="9" name="Picture 8"/>
          <p:cNvPicPr/>
          <p:nvPr/>
        </p:nvPicPr>
        <p:blipFill>
          <a:blip xmlns:a="http://schemas.openxmlformats.org/drawingml/2006/main" xmlns:r="http://schemas.openxmlformats.org/officeDocument/2006/relationships" r:embed="rId3"/>
          <a:srcRect xmlns:a="http://schemas.openxmlformats.org/drawingml/2006/main" l="12490" t="0" r="1249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50000" y="2476500"/>
            <a:ext cx="2540000" cy="19050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pic>
        <p:nvPicPr>
          <p:cNvPr id="10" name="Picture 9"/>
          <p:cNvPicPr/>
          <p:nvPr/>
        </p:nvPicPr>
        <p:blipFill>
          <a:blip xmlns:a="http://schemas.openxmlformats.org/drawingml/2006/main" xmlns:r="http://schemas.openxmlformats.org/officeDocument/2006/relationships" r:embed="rId4"/>
          <a:srcRect xmlns:a="http://schemas.openxmlformats.org/drawingml/2006/main" l="12490" t="0" r="1249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0" y="2476500"/>
            <a:ext cx="2540000" cy="19050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85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E8B26E"/>
                </a:solidFill>
                <a:latin typeface="Noto Sans SC"/>
                <a:ea typeface="Noto Sans SC"/>
                <a:cs typeface="Noto Sans SC"/>
                <a:sym typeface="Noto Sans SC"/>
              </a:rPr>
              <a:t>旧客厅 · 暖黄</a:t>
            </a:r>
          </a:p>
        </p:txBody>
      </p:sp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25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old shabby living room, warm yellow beam, floating dust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45085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E8B26E"/>
                </a:solidFill>
                <a:latin typeface="Noto Sans SC"/>
                <a:ea typeface="Noto Sans SC"/>
                <a:cs typeface="Noto Sans SC"/>
                <a:sym typeface="Noto Sans SC"/>
              </a:rPr>
              <a:t>旧钢琴 · 道具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4826000"/>
            <a:ext cx="25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old piano keys, handwritten sheet music on wall</a:t>
            </a:r>
          </a:p>
        </p:txBody>
      </p:sp>
      <p:sp>
        <p:nvSpPr>
          <p:cNvPr id="15" name="Text Box 1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5085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实验室 · 冷蓝</a:t>
            </a:r>
          </a:p>
        </p:txBody>
      </p:sp>
      <p:sp>
        <p:nvSpPr>
          <p:cNvPr id="16" name="Text Box 1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826000"/>
            <a:ext cx="25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cold blue sci-fi lab, red alarm, data stream</a:t>
            </a:r>
          </a:p>
        </p:txBody>
      </p:sp>
      <p:sp>
        <p:nvSpPr>
          <p:cNvPr id="17" name="Text Box 1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085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夜城 · 蓝光</a:t>
            </a:r>
          </a:p>
        </p:txBody>
      </p:sp>
      <p:sp>
        <p:nvSpPr>
          <p:cNvPr id="18" name="Text Box 1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26000"/>
            <a:ext cx="25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night city skyline, all screens pulsing blue</a:t>
            </a:r>
          </a:p>
        </p:txBody>
      </p:sp>
      <p:sp>
        <p:nvSpPr>
          <p:cNvPr id="19" name="Text Box 1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2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由豆包生成：场景名 + 光线色温 + 关键道具 + 情绪氛围 + cinematic lighting + film grain + 16:9　（暖黄 = 回忆，冷蓝 = 觉醒）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PRODUCTION · WORKFLOW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0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4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怎么制作：一条 AI 工具链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66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5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文本脑暴 → 图像设定 → 视频生成 → 剪辑合成，每一步各司其职</a:t>
            </a:r>
          </a:p>
        </p:txBody>
      </p:sp>
      <p:cxnSp>
        <p:nvCxnSpPr>
          <p:cNvPr id="7" name="Connector"/>
          <p:cNvCxnSpPr/>
          <p:nvPr/>
        </p:nvCxnSpPr>
        <p:spPr>
          <a:xfrm xmlns:a="http://schemas.openxmlformats.org/drawingml/2006/main" rot="-4523">
            <a:off x="1270004" y="4057650"/>
            <a:ext cx="9652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5BB8FF">
                <a:alpha val="40000"/>
              </a:srgbClr>
            </a:solidFill>
            <a:round/>
          </a:ln>
        </p:spPr>
      </p:cxnSp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4000"/>
            <a:ext cx="190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</a:t>
            </a:r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1905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剧本大纲</a:t>
            </a:r>
          </a:p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角色设定</a:t>
            </a:r>
          </a:p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分镜提示词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94000"/>
            <a:ext cx="190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豆包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18000"/>
            <a:ext cx="1905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人物三视图</a:t>
            </a:r>
          </a:p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场景概念图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94000"/>
            <a:ext cx="203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id="15" name="Text Box 1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203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agens · 豆包</a:t>
            </a:r>
          </a:p>
        </p:txBody>
      </p:sp>
      <p:sp>
        <p:nvSpPr>
          <p:cNvPr id="16" name="Text Box 1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18000"/>
            <a:ext cx="2032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图生视频</a:t>
            </a:r>
          </a:p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逐镜生成</a:t>
            </a:r>
          </a:p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镜头运动</a:t>
            </a:r>
          </a:p>
        </p:txBody>
      </p:sp>
      <p:sp>
        <p:nvSpPr>
          <p:cNvPr id="17" name="Text Box 1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500" y="2794000"/>
            <a:ext cx="190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id="18" name="Text Box 1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500" y="3429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剪映</a:t>
            </a:r>
          </a:p>
        </p:txBody>
      </p:sp>
      <p:sp>
        <p:nvSpPr>
          <p:cNvPr id="19" name="Text Box 1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500" y="4318000"/>
            <a:ext cx="1905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旁白配音</a:t>
            </a:r>
          </a:p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背景音乐</a:t>
            </a:r>
          </a:p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字幕调色</a:t>
            </a:r>
          </a:p>
        </p:txBody>
      </p:sp>
      <p:sp>
        <p:nvSpPr>
          <p:cNvPr id="20" name="Text Box 1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2794000"/>
            <a:ext cx="2159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</a:p>
        </p:txBody>
      </p:sp>
      <p:sp>
        <p:nvSpPr>
          <p:cNvPr id="21" name="Text Box 2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3429000"/>
            <a:ext cx="215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5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成片</a:t>
            </a:r>
          </a:p>
        </p:txBody>
      </p:sp>
      <p:sp>
        <p:nvSpPr>
          <p:cNvPr id="22" name="Text Box 2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4318000"/>
            <a:ext cx="2159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165s 电影感短片</a:t>
            </a:r>
          </a:p>
        </p:txBody>
      </p:sp>
      <p:sp>
        <p:nvSpPr>
          <p:cNvPr id="23" name="Text Box 2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2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下文按 01 → 04 顺序拆解每一步的提问方式、提示词写法与工具选择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 · DEEPSEEK 剧本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0000"/>
            <a:ext cx="1066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DeepSeek：先把故事"聊"出来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把原著改编要求结构化喂给大模型，一次拿到大纲、人设和分镜脚本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0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提问方式 · Prompt 示例</a:t>
            </a:r>
          </a:p>
        </p:txBody>
      </p:sp>
      <p:sp>
        <p:nvSpPr>
          <p:cNvPr id="8" name="Auto Shap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6400"/>
            <a:ext cx="5334000" cy="2921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BB8FF">
              <a:alpha val="8000"/>
            </a:srgbClr>
          </a:solidFill>
          <a:ln xmlns:a="http://schemas.openxmlformats.org/drawingml/2006/main" w="12700" cap="flat" cmpd="sng">
            <a:solidFill>
              <a:srgbClr val="5BB8FF">
                <a:alpha val="35000"/>
              </a:srgbClr>
            </a:solidFill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9600"/>
            <a:ext cx="49022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50" b="0" i="0" u="none" strike="noStrike" spc="0">
                <a:solidFill>
                  <a:srgbClr val="DCE2EC"/>
                </a:solidFill>
                <a:latin typeface="Noto Sans SC"/>
                <a:ea typeface="Noto Sans SC"/>
                <a:cs typeface="Noto Sans SC"/>
                <a:sym typeface="Noto Sans SC"/>
              </a:rPr>
              <a:t>"把王晋康《生命之歌》改编成一支 3 分钟以内的 AI 短片：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50" b="0" i="0" u="none" strike="noStrike" spc="0">
                <a:solidFill>
                  <a:srgbClr val="DCE2EC"/>
                </a:solidFill>
                <a:latin typeface="Noto Sans SC"/>
                <a:ea typeface="Noto Sans SC"/>
                <a:cs typeface="Noto Sans SC"/>
                <a:sym typeface="Noto Sans SC"/>
              </a:rPr>
              <a:t>1. 列出四幕结构与核心冲突；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50" b="0" i="0" u="none" strike="noStrike" spc="0">
                <a:solidFill>
                  <a:srgbClr val="DCE2EC"/>
                </a:solidFill>
                <a:latin typeface="Noto Sans SC"/>
                <a:ea typeface="Noto Sans SC"/>
                <a:cs typeface="Noto Sans SC"/>
                <a:sym typeface="Noto Sans SC"/>
              </a:rPr>
              <a:t>2. 设定 3 个主要人物的年龄、外形、气质与人物弧线；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50" b="0" i="0" u="none" strike="noStrike" spc="0">
                <a:solidFill>
                  <a:srgbClr val="DCE2EC"/>
                </a:solidFill>
                <a:latin typeface="Noto Sans SC"/>
                <a:ea typeface="Noto Sans SC"/>
                <a:cs typeface="Noto Sans SC"/>
                <a:sym typeface="Noto Sans SC"/>
              </a:rPr>
              <a:t>3. 拆成 30 个左右镜头，每镜 5 秒，</a:t>
            </a:r>
          </a:p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250" b="0" i="0" u="none" strike="noStrike" spc="0">
                <a:solidFill>
                  <a:srgbClr val="DCE2EC"/>
                </a:solidFill>
                <a:latin typeface="Noto Sans SC"/>
                <a:ea typeface="Noto Sans SC"/>
                <a:cs typeface="Noto Sans SC"/>
                <a:sym typeface="Noto Sans SC"/>
              </a:rPr>
              <a:t>　 输出画面描述与英文视频提示词。"</a:t>
            </a:r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5400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100" b="1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本轮产出 · 三件套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048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</a:p>
        </p:txBody>
      </p:sp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3022600"/>
            <a:ext cx="450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故事大纲</a:t>
            </a:r>
            <a:r>
              <a:rPr lang="en-US" sz="1600" b="0" i="0" u="none" strike="noStrike" spc="0">
                <a:solidFill>
                  <a:srgbClr val="DCE2EC"/>
                </a:solidFill>
                <a:latin typeface="Noto Sans SC"/>
                <a:ea typeface="Noto Sans SC"/>
                <a:cs typeface="Noto Sans SC"/>
                <a:sym typeface="Noto Sans SC"/>
              </a:rPr>
              <a:t>　四幕弧线：温情 → 破译 → 觉醒 → 抉择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937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3911600"/>
            <a:ext cx="450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角色设定</a:t>
            </a:r>
            <a:r>
              <a:rPr lang="en-US" sz="1600" b="0" i="0" u="none" strike="noStrike" spc="0">
                <a:solidFill>
                  <a:srgbClr val="DCE2EC"/>
                </a:solidFill>
                <a:latin typeface="Noto Sans SC"/>
                <a:ea typeface="Noto Sans SC"/>
                <a:cs typeface="Noto Sans SC"/>
                <a:sym typeface="Noto Sans SC"/>
              </a:rPr>
              <a:t>　元元 / 父亲 / 姐姐，含外形与情绪弧线</a:t>
            </a:r>
          </a:p>
        </p:txBody>
      </p:sp>
      <p:sp>
        <p:nvSpPr>
          <p:cNvPr id="15" name="Text Box 1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826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</a:p>
        </p:txBody>
      </p:sp>
      <p:sp>
        <p:nvSpPr>
          <p:cNvPr id="16" name="Text Box 1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4800600"/>
            <a:ext cx="450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6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33 镜分镜表</a:t>
            </a:r>
            <a:r>
              <a:rPr lang="en-US" sz="1600" b="0" i="0" u="none" strike="noStrike" spc="0">
                <a:solidFill>
                  <a:srgbClr val="DCE2EC"/>
                </a:solidFill>
                <a:latin typeface="Noto Sans SC"/>
                <a:ea typeface="Noto Sans SC"/>
                <a:cs typeface="Noto Sans SC"/>
                <a:sym typeface="Noto Sans SC"/>
              </a:rPr>
              <a:t>　每镜画面描述 + 英文提示词，共 165s</a:t>
            </a:r>
          </a:p>
        </p:txBody>
      </p:sp>
      <p:sp>
        <p:nvSpPr>
          <p:cNvPr id="17" name="Text Box 1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6896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提示：多轮追问补细节，再人工微调人物关系与结尾。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 · AGENS / DOUBAO 视频生成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6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agens · 豆包：七段式提示词，逐镜生成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42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七段结构（每镜必写）</a:t>
            </a:r>
          </a:p>
        </p:txBody>
      </p:sp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5200"/>
            <a:ext cx="355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sz="11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景别　close-up / wide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355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1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主体动作　弹琴 / 抬手 / 对峙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6400"/>
            <a:ext cx="355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sz="11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环境　客厅 / 实验室 / 夜城</a:t>
            </a:r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2000"/>
            <a:ext cx="355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sz="11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光线　warm yellow / cold blue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55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en-US" sz="11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情绪　melancholic / tense / epic</a:t>
            </a:r>
          </a:p>
        </p:txBody>
      </p:sp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355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11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运镜　push-in / pan / orbit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8800"/>
            <a:ext cx="355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en-US" sz="115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收尾　film grain, 16:9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355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产出 · 30 镜分镜板</a:t>
            </a:r>
          </a:p>
        </p:txBody>
      </p:sp>
      <p:sp>
        <p:nvSpPr>
          <p:cNvPr id="15" name="Text Box 1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355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每镜 5 秒，参考人物三视图生图，再以图生视频；同一提示词模板复用到 30 个镜头。</a:t>
            </a:r>
          </a:p>
        </p:txBody>
      </p:sp>
      <p:pic>
        <p:nvPicPr>
          <p:cNvPr id="16" name="Picture 15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3684" t="0" r="3684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699000" y="1854200"/>
            <a:ext cx="6731000" cy="37846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sp>
        <p:nvSpPr>
          <p:cNvPr id="17" name="Text Box 1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5715000"/>
            <a:ext cx="673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图：S01–S30 分镜一览（豆包生图 → agens/豆包图生视频）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 · 剪映后期 ① 时间线拼接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1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33 个 5 秒镜头，按时间线拼合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6687" r="0" b="668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1854200"/>
            <a:ext cx="7620000" cy="42926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9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时间线结构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6800"/>
            <a:ext cx="2667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20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视频轨：13–23.mp4 中段镜头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7800"/>
            <a:ext cx="2667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20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每段固定 00:00:05</a:t>
            </a:r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8800"/>
            <a:ext cx="2667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20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自动补分辨率统一画幅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9800"/>
            <a:ext cx="2667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200" b="0" i="0" u="none" strike="noStrike" spc="0">
                <a:solidFill>
                  <a:srgbClr val="C8D4E4"/>
                </a:solidFill>
                <a:latin typeface="Noto Sans SC"/>
                <a:ea typeface="Noto Sans SC"/>
                <a:cs typeface="Noto Sans SC"/>
                <a:sym typeface="Noto Sans SC"/>
              </a:rPr>
              <a:t> 字幕块对齐台词节点</a:t>
            </a:r>
          </a:p>
        </p:txBody>
      </p:sp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截图对应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左图为剪映实际时间线：预览窗中是元元独坐暗室，下方音轨为旁白与 BGM 波形。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 · 剪映后期 ② 声音与调色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26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旁白、BGM、字幕、调色，一次合成</a:t>
            </a:r>
          </a:p>
        </p:txBody>
      </p:sp>
      <p:pic>
        <p:nvPicPr>
          <p:cNvPr id="6" name="Picture 5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5109" r="0" b="510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1854200"/>
            <a:ext cx="7620000" cy="42926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4200"/>
            <a:ext cx="2667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旁白配音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9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低沉男声，旁白轨独立置于最下方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8600"/>
            <a:ext cx="2667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背景音乐</a:t>
            </a:r>
          </a:p>
        </p:txBody>
      </p:sp>
      <p:sp>
        <p:nvSpPr>
          <p:cNvPr id="10" name="Text Box 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266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BGM「沉郁静曲」钢琴主旋律，觉醒段叠加低频垫乐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2667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字幕排版</a:t>
            </a:r>
          </a:p>
        </p:txBody>
      </p:sp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9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关键台词白色细体淡入；结尾黑场"生命之歌"书法字幕</a:t>
            </a:r>
          </a:p>
        </p:txBody>
      </p:sp>
      <p:sp>
        <p:nvSpPr>
          <p:cNvPr id="13" name="Text Box 1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73600"/>
            <a:ext cx="2667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300" b="1" i="0" u="none" strike="noStrike" spc="0">
                <a:solidFill>
                  <a:srgbClr val="D9A05B"/>
                </a:solidFill>
                <a:latin typeface="Noto Sans SC"/>
                <a:ea typeface="Noto Sans SC"/>
                <a:cs typeface="Noto Sans SC"/>
                <a:sym typeface="Noto Sans SC"/>
              </a:rPr>
              <a:t>调色转场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92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16666"/>
              </a:lnSpc>
            </a:pPr>
            <a:r>
              <a:rPr lang="en-US" sz="11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暖黄客厅向冷蓝实验室渐变；爆炸与觉醒处用 glitch 故障转场衔接</a:t>
            </a:r>
          </a:p>
        </p:txBody>
      </p:sp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FINAL CUT · 165s EMOTION CURVE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12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0000"/>
            <a:ext cx="1066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成片节奏：165 秒情绪曲线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从暖黄温情到冷蓝觉醒，再归于天台一刻的安静</a:t>
            </a:r>
          </a:p>
        </p:txBody>
      </p:sp>
      <p:sp>
        <p:nvSpPr>
          <p:cNvPr id="7" name="Auto Shap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1000"/>
            <a:ext cx="19050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26E">
              <a:alpha val="85000"/>
            </a:srgbClr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65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1E2430"/>
                </a:solidFill>
                <a:latin typeface="Noto Sans SC"/>
                <a:ea typeface="Noto Sans SC"/>
                <a:cs typeface="Noto Sans SC"/>
                <a:sym typeface="Noto Sans SC"/>
              </a:rPr>
              <a:t>0–25s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65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0" i="0" u="none" strike="noStrike" spc="0">
                <a:solidFill>
                  <a:srgbClr val="282E3A"/>
                </a:solidFill>
                <a:latin typeface="Noto Sans SC"/>
                <a:ea typeface="Noto Sans SC"/>
                <a:cs typeface="Noto Sans SC"/>
                <a:sym typeface="Noto Sans SC"/>
              </a:rPr>
              <a:t>弹琴温情 · 父子凝视</a:t>
            </a:r>
          </a:p>
        </p:txBody>
      </p:sp>
      <p:sp>
        <p:nvSpPr>
          <p:cNvPr id="10" name="Auto Shap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2921000"/>
            <a:ext cx="15240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88CAA">
              <a:alpha val="85000"/>
            </a:srgbClr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3048000"/>
            <a:ext cx="127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1E2430"/>
                </a:solidFill>
                <a:latin typeface="Noto Sans SC"/>
                <a:ea typeface="Noto Sans SC"/>
                <a:cs typeface="Noto Sans SC"/>
                <a:sym typeface="Noto Sans SC"/>
              </a:rPr>
              <a:t>35–50s</a:t>
            </a:r>
          </a:p>
        </p:txBody>
      </p:sp>
      <p:sp>
        <p:nvSpPr>
          <p:cNvPr id="12" name="Text Box 1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3352800"/>
            <a:ext cx="127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0" i="0" u="none" strike="noStrike" spc="0">
                <a:solidFill>
                  <a:srgbClr val="282E3A"/>
                </a:solidFill>
                <a:latin typeface="Noto Sans SC"/>
                <a:ea typeface="Noto Sans SC"/>
                <a:cs typeface="Noto Sans SC"/>
                <a:sym typeface="Noto Sans SC"/>
              </a:rPr>
              <a:t>后颈开关 · 蓝光熄灭</a:t>
            </a:r>
          </a:p>
        </p:txBody>
      </p:sp>
      <p:sp>
        <p:nvSpPr>
          <p:cNvPr id="13" name="Auto Shape 1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921000"/>
            <a:ext cx="15240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45A50">
              <a:alpha val="85000"/>
            </a:srgbClr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4" name="Text Box 1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048000"/>
            <a:ext cx="127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1E2430"/>
                </a:solidFill>
                <a:latin typeface="Noto Sans SC"/>
                <a:ea typeface="Noto Sans SC"/>
                <a:cs typeface="Noto Sans SC"/>
                <a:sym typeface="Noto Sans SC"/>
              </a:rPr>
              <a:t>65–80s</a:t>
            </a:r>
          </a:p>
        </p:txBody>
      </p:sp>
      <p:sp>
        <p:nvSpPr>
          <p:cNvPr id="15" name="Text Box 1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352800"/>
            <a:ext cx="127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0" i="0" u="none" strike="noStrike" spc="0">
                <a:solidFill>
                  <a:srgbClr val="282E3A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实验室爆炸 · glitch</a:t>
            </a:r>
          </a:p>
        </p:txBody>
      </p:sp>
      <p:sp>
        <p:nvSpPr>
          <p:cNvPr id="16" name="Auto 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1000"/>
            <a:ext cx="25400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BB8FF">
              <a:alpha val="85000"/>
            </a:srgbClr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7" name="Text Box 1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2286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0A1422"/>
                </a:solidFill>
                <a:latin typeface="Noto Sans SC"/>
                <a:ea typeface="Noto Sans SC"/>
                <a:cs typeface="Noto Sans SC"/>
                <a:sym typeface="Noto Sans SC"/>
              </a:rPr>
              <a:t>85–120s</a:t>
            </a:r>
          </a:p>
        </p:txBody>
      </p:sp>
      <p:sp>
        <p:nvSpPr>
          <p:cNvPr id="18" name="Text Box 1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0" i="0" u="none" strike="noStrike" spc="0">
                <a:solidFill>
                  <a:srgbClr val="0A1422"/>
                </a:solidFill>
                <a:latin typeface="Noto Sans SC"/>
                <a:ea typeface="Noto Sans SC"/>
                <a:cs typeface="Noto Sans SC"/>
                <a:sym typeface="Noto Sans SC"/>
              </a:rPr>
              <a:t>黑暗觉醒 · 琴声数据流 · DNA 螺旋</a:t>
            </a:r>
          </a:p>
        </p:txBody>
      </p:sp>
      <p:sp>
        <p:nvSpPr>
          <p:cNvPr id="19" name="Auto Shape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21000"/>
            <a:ext cx="26670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BB8FF">
              <a:alpha val="55000"/>
            </a:srgbClr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0" name="Text Box 19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241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125–165s</a:t>
            </a:r>
          </a:p>
        </p:txBody>
      </p:sp>
      <p:sp>
        <p:nvSpPr>
          <p:cNvPr id="21" name="Text Box 2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52800"/>
            <a:ext cx="241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150" b="0" i="0" u="none" strike="noStrike" spc="0">
                <a:solidFill>
                  <a:srgbClr val="DCE2EC"/>
                </a:solidFill>
                <a:latin typeface="Noto Sans SC"/>
                <a:ea typeface="Noto Sans SC"/>
                <a:cs typeface="Noto Sans SC"/>
                <a:sym typeface="Noto Sans SC"/>
              </a:rPr>
              <a:t>全城蓝光 · 天台对峙 · "我想活着"</a:t>
            </a:r>
          </a:p>
        </p:txBody>
      </p:sp>
      <p:cxnSp>
        <p:nvCxnSpPr>
          <p:cNvPr id="22" name="Connector"/>
          <p:cNvCxnSpPr/>
          <p:nvPr/>
        </p:nvCxnSpPr>
        <p:spPr>
          <a:xfrm xmlns:a="http://schemas.openxmlformats.org/drawingml/2006/main" rot="-4092">
            <a:off x="762004" y="43116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5000"/>
              </a:srgbClr>
            </a:solidFill>
            <a:round/>
          </a:ln>
        </p:spPr>
      </p:cxnSp>
      <p:sp>
        <p:nvSpPr>
          <p:cNvPr id="23" name="Text Box 2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33333"/>
              </a:lnSpc>
            </a:pPr>
            <a:r>
              <a:rPr lang="en-US" sz="1400" b="0" i="0" u="none" strike="noStrike" spc="0">
                <a:solidFill>
                  <a:srgbClr val="DCE2EC"/>
                </a:solidFill>
                <a:latin typeface="Noto Sans SC"/>
                <a:ea typeface="Noto Sans SC"/>
                <a:cs typeface="Noto Sans SC"/>
                <a:sym typeface="Noto Sans SC"/>
              </a:rPr>
              <a:t>情绪曲线：暖黄温情 → 冷意抽离 → 赤红爆裂 → 冷蓝觉醒 → 蓝光温柔收束</a:t>
            </a:r>
          </a:p>
        </p:txBody>
      </p:sp>
      <p:sp>
        <p:nvSpPr>
          <p:cNvPr id="24" name="Text Box 2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41666"/>
              </a:lnSpc>
            </a:pPr>
            <a:r>
              <a:rPr lang="en-US" sz="13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结尾不诉诸战斗，元元抬手覆在姐姐持枪的手背上，蓝光如水波包裹两人后散去——</a:t>
            </a:r>
          </a:p>
          <a:p xmlns:a="http://schemas.openxmlformats.org/drawingml/2006/main">
            <a:pPr marL="0" marR="0" algn="l">
              <a:lnSpc>
                <a:spcPct val="141666"/>
              </a:lnSpc>
            </a:pPr>
            <a:r>
              <a:rPr lang="en-US" sz="13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无论人类还是仿生人，活下去本身，就是最动人的那首生命之歌。</a:t>
            </a:r>
          </a:p>
        </p:txBody>
      </p:sp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TOOL CHAIN SUMMARY</a:t>
            </a:r>
          </a:p>
        </p:txBody>
      </p:sp>
      <p:sp>
        <p:nvSpPr>
          <p:cNvPr id="3" name="Text Box 2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13</a:t>
            </a:r>
          </a:p>
        </p:txBody>
      </p:sp>
      <p:cxnSp>
        <p:nvCxnSpPr>
          <p:cNvPr id="4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0000"/>
            <a:ext cx="1066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30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一张表看懂整条工具链</a:t>
            </a:r>
          </a:p>
        </p:txBody>
      </p:sp>
      <p:sp>
        <p:nvSpPr>
          <p:cNvPr id="6" name="Text Box 5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A0AAB8"/>
                </a:solidFill>
                <a:latin typeface="Noto Sans SC"/>
                <a:ea typeface="Noto Sans SC"/>
                <a:cs typeface="Noto Sans SC"/>
                <a:sym typeface="Noto Sans SC"/>
              </a:rPr>
              <a:t>四个工具各司其职：一个写、一个画、一个动、一个剪</a:t>
            </a:r>
          </a:p>
        </p:txBody>
      </p:sp>
      <p:graphicFrame>
        <p:nvGraphicFramePr>
          <p:cNvPr id="7" name="Table"/>
          <p:cNvGraphicFramePr/>
          <p:nvPr/>
        </p:nvGraphicFramePr>
        <p:xfrm>
          <a:off xmlns:a="http://schemas.openxmlformats.org/drawingml/2006/main" x="762000" y="254000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651000"/>
                <a:gridCol w="4572000"/>
                <a:gridCol w="2540000"/>
              </a:tblGrid>
              <a:tr h="508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 spc="0">
                          <a:solidFill>
                            <a:srgbClr val="5BB8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工具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B8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 spc="0">
                          <a:solidFill>
                            <a:srgbClr val="5BB8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角色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B8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 spc="0">
                          <a:solidFill>
                            <a:srgbClr val="5BB8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具体用途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B8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 spc="0">
                          <a:solidFill>
                            <a:srgbClr val="5BB8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产出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B8FF">
                        <a:alpha val="18000"/>
                      </a:srgbClr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50" b="1" i="0" u="none" strike="noStrike" spc="0">
                          <a:solidFill>
                            <a:srgbClr val="5BB8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DeepSeek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文本脑暴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改编原著、搭四幕大纲、写分镜脚本与英文提示词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大纲 + 33 镜分镜表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50" b="1" i="0" u="none" strike="noStrike" spc="0">
                          <a:solidFill>
                            <a:srgbClr val="5BB8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豆包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图像生成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人物正侧背三视图、客厅 / 实验室 / 城市等场景概念图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人物与场景设定图集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50" b="1" i="0" u="none" strike="noStrike" spc="0">
                          <a:solidFill>
                            <a:srgbClr val="5BB8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agens · 豆包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视频生成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参考图生视频，按七段式英文提示词逐镜生成镜头运动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33 个 5s 镜头素材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50" b="1" i="0" u="none" strike="noStrike" spc="0">
                          <a:solidFill>
                            <a:srgbClr val="D9A05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剪映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后期合成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旁白配音、钢琴 BGM、字幕、色温调色与 glitch 转场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spc="0">
                          <a:solidFill>
                            <a:srgbClr val="C8D4E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165s 成片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62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xmlns:a="http://schemas.openxmlformats.org/drawingml/2006/main" xmlns:r="http://schemas.openxmlformats.org/officeDocument/2006/relationships" r:embed="rId1"/>
          <a:srcRect xmlns:a="http://schemas.openxmlformats.org/drawingml/2006/main" l="0" t="12" r="0" b="1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noFill/>
            <a:round/>
          </a:ln>
        </p:spPr>
      </p:pic>
      <p:sp>
        <p:nvSpPr>
          <p:cNvPr id="3" name="Auto 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80E18">
              <a:alpha val="78000"/>
            </a:srgbClr>
          </a:solidFill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63500" tIns="63500" rIns="63500" bIns="6350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Text Box 3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635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l"/>
          </a:lstStyle>
          <a:p xmlns:a="http://schemas.openxmlformats.org/drawingml/2006/main">
            <a:pPr marL="0" marR="0" algn="l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生命之歌 · ENDING</a:t>
            </a:r>
          </a:p>
        </p:txBody>
      </p:sp>
      <p:sp>
        <p:nvSpPr>
          <p:cNvPr id="5" name="Text Box 4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5588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r"/>
          </a:lstStyle>
          <a:p xmlns:a="http://schemas.openxmlformats.org/drawingml/2006/main">
            <a:pPr marL="0" marR="0" algn="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14</a:t>
            </a:r>
          </a:p>
        </p:txBody>
      </p:sp>
      <p:cxnSp>
        <p:nvCxnSpPr>
          <p:cNvPr id="6" name="Connector"/>
          <p:cNvCxnSpPr/>
          <p:nvPr/>
        </p:nvCxnSpPr>
        <p:spPr>
          <a:xfrm xmlns:a="http://schemas.openxmlformats.org/drawingml/2006/main" rot="-4092">
            <a:off x="762004" y="984250"/>
            <a:ext cx="10668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EDE7DB">
                <a:alpha val="18000"/>
              </a:srgbClr>
            </a:solidFill>
            <a:round/>
          </a:ln>
        </p:spPr>
      </p:cxnSp>
      <p:sp>
        <p:nvSpPr>
          <p:cNvPr id="7" name="Text Box 6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667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L="0" marR="0" algn="ctr">
              <a:lnSpc>
                <a:spcPct val="116666"/>
              </a:lnSpc>
            </a:pPr>
            <a:r>
              <a:rPr lang="en-US" sz="4400" b="1" i="0" u="none" strike="noStrike" spc="0">
                <a:solidFill>
                  <a:srgbClr val="EDE7DB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如果元元是你的孩子，</a:t>
            </a:r>
          </a:p>
        </p:txBody>
      </p:sp>
      <p:sp>
        <p:nvSpPr>
          <p:cNvPr id="8" name="Text Box 7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556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L="0" marR="0" algn="ctr">
              <a:lnSpc>
                <a:spcPct val="125000"/>
              </a:lnSpc>
            </a:pPr>
            <a:r>
              <a:rPr lang="en-US" sz="3800" b="1" i="0" u="none" strike="noStrike" spc="0">
                <a:solidFill>
                  <a:srgbClr val="5BB8FF"/>
                </a:solidFill>
                <a:latin typeface="Noto Sans SC"/>
                <a:ea typeface="Noto Sans SC"/>
                <a:cs typeface="Noto Sans SC"/>
                <a:sym typeface="Noto Sans SC"/>
              </a:rPr>
              <a:t>你会扣下扳机吗？</a:t>
            </a:r>
          </a:p>
        </p:txBody>
      </p:sp>
      <p:sp>
        <p:nvSpPr>
          <p:cNvPr id="9" name="Text Box 8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826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L="0" marR="0" algn="ctr">
              <a:lnSpc>
                <a:spcPct val="125000"/>
              </a:lnSpc>
            </a:pPr>
            <a:r>
              <a:rPr lang="en-US" sz="1400" b="0" i="0" u="none" strike="noStrike" spc="0">
                <a:solidFill>
                  <a:srgbClr val="B4BCC8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王晋康《生命之歌》留给每一位观众的追问</a:t>
            </a:r>
          </a:p>
        </p:txBody>
      </p:sp>
      <p:cxnSp>
        <p:nvCxnSpPr>
          <p:cNvPr id="10" name="Connector"/>
          <p:cNvCxnSpPr/>
          <p:nvPr/>
        </p:nvCxnSpPr>
        <p:spPr>
          <a:xfrm xmlns:a="http://schemas.openxmlformats.org/drawingml/2006/main" rot="-17188">
            <a:off x="4826016" y="5708650"/>
            <a:ext cx="2540000" cy="12700"/>
          </a:xfrm>
          <a:prstGeom xmlns:a="http://schemas.openxmlformats.org/drawingml/2006/main" prst="straightConnector1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12700" cap="flat" cmpd="sng">
            <a:solidFill>
              <a:srgbClr val="D9A05B">
                <a:alpha val="60000"/>
              </a:srgbClr>
            </a:solidFill>
            <a:round/>
          </a:ln>
        </p:spPr>
      </p:cxnSp>
      <p:sp>
        <p:nvSpPr>
          <p:cNvPr id="11" name="Text Box 10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905500"/>
            <a:ext cx="10160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round/>
          </a:ln>
        </p:spPr>
        <p:txBody>
          <a:bodyPr xmlns:a="http://schemas.openxmlformats.org/drawingml/2006/main" vert="horz" wrap="square" lIns="0" tIns="0" rIns="0" bIns="0" rtlCol="0" anchor="ctr">
            <a:noAutofit/>
          </a:bodyPr>
          <a:lstStyle xmlns:a="http://schemas.openxmlformats.org/drawingml/2006/main">
            <a:lvl1pPr algn="ctr"/>
          </a:lstStyle>
          <a:p xmlns:a="http://schemas.openxmlformats.org/drawingml/2006/main">
            <a:pPr marL="0" marR="0" algn="ctr">
              <a:lnSpc>
                <a:spcPct val="125000"/>
              </a:lnSpc>
            </a:pPr>
            <a:r>
              <a:rPr lang="en-US" sz="1200" b="0" i="0" u="none" strike="noStrike" spc="0">
                <a:solidFill>
                  <a:srgbClr val="8A93A3"/>
                </a:solidFill>
                <a:latin typeface="Noto Sans SC"/>
                <a:ea typeface="Noto Sans SC"/>
                <a:cs typeface="Noto Sans SC"/>
                <a:sym typeface="Noto Sans SC"/>
              </a:rPr>
              <a:t>生命之歌 · SONG OF LIFE　｜　165s AI 短片　｜　DEEPSEEK × 豆包 × agens × 剪映</a:t>
            </a:r>
          </a:p>
        </p:txBody>
      </p:sp>
    </p:spTree>
  </p:cSld>
  <p:clrMapOvr>
    <a:masterClrMapping xmlns:a="http://schemas.openxmlformats.org/drawingml/2006/main"/>
  </p:clrMapOvr>
</p:sld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13</Slides>
  <Notes>0</Notes>
  <HiddenSlides>0</HiddenSlides>
  <ScaleCrop>false</ScaleCrop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